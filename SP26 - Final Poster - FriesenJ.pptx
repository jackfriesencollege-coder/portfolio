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6"/>
  </p:notesMasterIdLst>
  <p:sldIdLst>
    <p:sldId id="258" r:id="rId5"/>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7" userDrawn="1">
          <p15:clr>
            <a:srgbClr val="A4A3A4"/>
          </p15:clr>
        </p15:guide>
        <p15:guide id="2" pos="13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937BF-A23C-BA14-88B4-E9749CE77B58}" name="Valles Castro,Miguel" initials="VC" userId="S::mvalles@colostate.edu::81a02835-2735-419f-842a-2fdc760a65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D2B"/>
    <a:srgbClr val="CFFC00"/>
    <a:srgbClr val="82C503"/>
    <a:srgbClr val="59595B"/>
    <a:srgbClr val="E56A54"/>
    <a:srgbClr val="FF33CC"/>
    <a:srgbClr val="0000FF"/>
    <a:srgbClr val="C8C372"/>
    <a:srgbClr val="ECC530"/>
    <a:srgbClr val="C9D8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AB8C72-88CE-4FF6-922E-ECD958B5C40E}" v="22" dt="2026-04-23T21:58:06.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18" autoAdjust="0"/>
    <p:restoredTop sz="96327"/>
  </p:normalViewPr>
  <p:slideViewPr>
    <p:cSldViewPr snapToGrid="0">
      <p:cViewPr>
        <p:scale>
          <a:sx n="75" d="100"/>
          <a:sy n="75" d="100"/>
        </p:scale>
        <p:origin x="-12826" y="-2654"/>
      </p:cViewPr>
      <p:guideLst>
        <p:guide orient="horz" pos="10367"/>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E8A7E-40E2-3249-9F13-76A62613DC9B}" type="datetimeFigureOut">
              <a:rPr lang="en-US" smtClean="0"/>
              <a:t>4/23/2026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EFF41-B575-6744-8EF1-0B9141FF8E41}" type="slidenum">
              <a:rPr lang="en-US" smtClean="0"/>
              <a:t>‹#›</a:t>
            </a:fld>
            <a:endParaRPr lang="en-US"/>
          </a:p>
        </p:txBody>
      </p:sp>
    </p:spTree>
    <p:extLst>
      <p:ext uri="{BB962C8B-B14F-4D97-AF65-F5344CB8AC3E}">
        <p14:creationId xmlns:p14="http://schemas.microsoft.com/office/powerpoint/2010/main" val="408057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55E6CD-CDCA-48FF-BBCA-BE91922671D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1199470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55E6CD-CDCA-48FF-BBCA-BE91922671D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1239943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055E6CD-CDCA-48FF-BBCA-BE91922671D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2289095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55E6CD-CDCA-48FF-BBCA-BE91922671DE}"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159965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55E6CD-CDCA-48FF-BBCA-BE91922671DE}"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3928512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55E6CD-CDCA-48FF-BBCA-BE91922671DE}"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878199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55E6CD-CDCA-48FF-BBCA-BE91922671DE}"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3460284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4"/>
          <p:cNvSpPr>
            <a:spLocks noGrp="1"/>
          </p:cNvSpPr>
          <p:nvPr>
            <p:ph type="dt" sz="half" idx="10"/>
          </p:nvPr>
        </p:nvSpPr>
        <p:spPr/>
        <p:txBody>
          <a:bodyPr/>
          <a:lstStyle/>
          <a:p>
            <a:fld id="{2055E6CD-CDCA-48FF-BBCA-BE91922671DE}"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2761413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4"/>
          <p:cNvSpPr>
            <a:spLocks noGrp="1"/>
          </p:cNvSpPr>
          <p:nvPr>
            <p:ph type="dt" sz="half" idx="10"/>
          </p:nvPr>
        </p:nvSpPr>
        <p:spPr/>
        <p:txBody>
          <a:bodyPr/>
          <a:lstStyle/>
          <a:p>
            <a:fld id="{2055E6CD-CDCA-48FF-BBCA-BE91922671DE}"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2271134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55E6CD-CDCA-48FF-BBCA-BE91922671D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1070692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55E6CD-CDCA-48FF-BBCA-BE91922671DE}"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57CAAD-035F-4B4C-8155-04ED305FE6B0}" type="slidenum">
              <a:rPr lang="en-US" smtClean="0"/>
              <a:t>‹#›</a:t>
            </a:fld>
            <a:endParaRPr lang="en-US"/>
          </a:p>
        </p:txBody>
      </p:sp>
    </p:spTree>
    <p:extLst>
      <p:ext uri="{BB962C8B-B14F-4D97-AF65-F5344CB8AC3E}">
        <p14:creationId xmlns:p14="http://schemas.microsoft.com/office/powerpoint/2010/main" val="262605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2055E6CD-CDCA-48FF-BBCA-BE91922671DE}" type="datetimeFigureOut">
              <a:rPr lang="en-US" smtClean="0"/>
              <a:t>4/23/2026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B957CAAD-035F-4B4C-8155-04ED305FE6B0}" type="slidenum">
              <a:rPr lang="en-US" smtClean="0"/>
              <a:t>‹#›</a:t>
            </a:fld>
            <a:endParaRPr lang="en-US"/>
          </a:p>
        </p:txBody>
      </p:sp>
    </p:spTree>
    <p:extLst>
      <p:ext uri="{BB962C8B-B14F-4D97-AF65-F5344CB8AC3E}">
        <p14:creationId xmlns:p14="http://schemas.microsoft.com/office/powerpoint/2010/main" val="394679382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A3689304-38B8-F17B-5794-093EAD53F7C6}"/>
              </a:ext>
            </a:extLst>
          </p:cNvPr>
          <p:cNvSpPr>
            <a:spLocks noGrp="1" noRot="1" noMove="1" noResize="1" noEditPoints="1" noAdjustHandles="1" noChangeArrowheads="1" noChangeShapeType="1"/>
          </p:cNvSpPr>
          <p:nvPr/>
        </p:nvSpPr>
        <p:spPr bwMode="auto">
          <a:xfrm>
            <a:off x="0" y="0"/>
            <a:ext cx="43891200" cy="5940427"/>
          </a:xfrm>
          <a:prstGeom prst="rect">
            <a:avLst/>
          </a:prstGeom>
          <a:solidFill>
            <a:srgbClr val="1E4D2B"/>
          </a:solidFill>
          <a:ln w="38100">
            <a:noFill/>
            <a:miter lim="800000"/>
          </a:ln>
        </p:spPr>
        <p:txBody>
          <a:bodyPr lIns="137160" tIns="68580" rIns="137160" bIns="68580" anchor="ctr"/>
          <a:lstStyle>
            <a:defPPr>
              <a:defRPr kern="1200"/>
            </a:defPPr>
          </a:lstStyle>
          <a:p>
            <a:pPr algn="ctr" defTabSz="4703763"/>
            <a:endParaRPr lang="en-US" sz="5400" b="1" dirty="0">
              <a:solidFill>
                <a:srgbClr val="1E4D2B"/>
              </a:solidFill>
              <a:latin typeface="Gill Sans" pitchFamily="34" charset="0"/>
            </a:endParaRPr>
          </a:p>
        </p:txBody>
      </p:sp>
      <p:sp>
        <p:nvSpPr>
          <p:cNvPr id="3" name="Text Placeholder 5">
            <a:extLst>
              <a:ext uri="{FF2B5EF4-FFF2-40B4-BE49-F238E27FC236}">
                <a16:creationId xmlns:a16="http://schemas.microsoft.com/office/drawing/2014/main" id="{31FC305C-8512-EFF8-F41A-B74C2C1282BE}"/>
              </a:ext>
            </a:extLst>
          </p:cNvPr>
          <p:cNvSpPr txBox="1"/>
          <p:nvPr/>
        </p:nvSpPr>
        <p:spPr>
          <a:xfrm>
            <a:off x="10058400" y="799857"/>
            <a:ext cx="23774400" cy="2937440"/>
          </a:xfrm>
          <a:prstGeom prst="rect">
            <a:avLst/>
          </a:prstGeom>
        </p:spPr>
        <p:txBody>
          <a:bodyPr lIns="0" tIns="0" rIns="0" bIns="0" anchor="ctr" anchorCtr="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3761086">
              <a:spcBef>
                <a:spcPts val="0"/>
              </a:spcBef>
              <a:defRPr/>
            </a:pPr>
            <a:r>
              <a:rPr lang="en-US" sz="8500" dirty="0">
                <a:solidFill>
                  <a:schemeClr val="bg1"/>
                </a:solidFill>
                <a:latin typeface="Poppins" pitchFamily="2" charset="77"/>
                <a:cs typeface="Poppins" pitchFamily="2" charset="77"/>
              </a:rPr>
              <a:t>Photodiode-Based Measurement of Wildfire Fire Radiative Power</a:t>
            </a:r>
          </a:p>
        </p:txBody>
      </p:sp>
      <p:sp>
        <p:nvSpPr>
          <p:cNvPr id="4" name="Text Placeholder 5">
            <a:extLst>
              <a:ext uri="{FF2B5EF4-FFF2-40B4-BE49-F238E27FC236}">
                <a16:creationId xmlns:a16="http://schemas.microsoft.com/office/drawing/2014/main" id="{9E2127EE-1C4D-D87A-780F-1FBFDC31E66D}"/>
              </a:ext>
            </a:extLst>
          </p:cNvPr>
          <p:cNvSpPr txBox="1"/>
          <p:nvPr/>
        </p:nvSpPr>
        <p:spPr>
          <a:xfrm>
            <a:off x="10058400" y="3724800"/>
            <a:ext cx="23774400" cy="1354217"/>
          </a:xfrm>
          <a:prstGeom prst="rect">
            <a:avLst/>
          </a:prstGeom>
        </p:spPr>
        <p:txBody>
          <a:bodyPr lIns="0" tIns="0" rIns="0" bIns="0" anchor="ctr" anchorCtr="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spcBef>
                <a:spcPts val="0"/>
              </a:spcBef>
              <a:defRPr/>
            </a:pPr>
            <a:r>
              <a:rPr lang="en-US" sz="4400" dirty="0">
                <a:solidFill>
                  <a:schemeClr val="bg1"/>
                </a:solidFill>
                <a:latin typeface="Open Sans" panose="020B0606030504020204" pitchFamily="34" charset="0"/>
                <a:ea typeface="Open Sans" panose="020B0606030504020204" pitchFamily="34" charset="0"/>
                <a:cs typeface="Open Sans" panose="020B0606030504020204" pitchFamily="34" charset="0"/>
              </a:rPr>
              <a:t>Jack Friesen, Abbie Maben, Karthick Mohan Kumar, Dr. Shantanu Jathar</a:t>
            </a:r>
            <a:br>
              <a:rPr lang="en-US" sz="4400" dirty="0">
                <a:solidFill>
                  <a:schemeClr val="bg1"/>
                </a:solidFill>
                <a:latin typeface="Open Sans" panose="020B0606030504020204" pitchFamily="34" charset="0"/>
                <a:ea typeface="Open Sans" panose="020B0606030504020204" pitchFamily="34" charset="0"/>
                <a:cs typeface="Open Sans" panose="020B0606030504020204" pitchFamily="34" charset="0"/>
              </a:rPr>
            </a:br>
            <a:r>
              <a:rPr lang="en-US" sz="4400" dirty="0">
                <a:solidFill>
                  <a:schemeClr val="bg1"/>
                </a:solidFill>
                <a:latin typeface="Open Sans" panose="020B0606030504020204" pitchFamily="34" charset="0"/>
                <a:ea typeface="Open Sans" panose="020B0606030504020204" pitchFamily="34" charset="0"/>
                <a:cs typeface="Open Sans" panose="020B0606030504020204" pitchFamily="34" charset="0"/>
              </a:rPr>
              <a:t>Department of Mechanical Engineering, Colorado State University, Fort Collins, CO</a:t>
            </a:r>
          </a:p>
        </p:txBody>
      </p:sp>
      <p:pic>
        <p:nvPicPr>
          <p:cNvPr id="8" name="Picture 7" descr="Walter Scott, Jr. College of Engineering, Colorado State Univeristy, Unit ID">
            <a:extLst>
              <a:ext uri="{FF2B5EF4-FFF2-40B4-BE49-F238E27FC236}">
                <a16:creationId xmlns:a16="http://schemas.microsoft.com/office/drawing/2014/main" id="{FD610504-0672-5EFC-F0F8-3EF54F8E95FA}"/>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914400" y="468041"/>
            <a:ext cx="8229600" cy="4737434"/>
          </a:xfrm>
          <a:prstGeom prst="rect">
            <a:avLst/>
          </a:prstGeom>
        </p:spPr>
      </p:pic>
      <p:sp>
        <p:nvSpPr>
          <p:cNvPr id="13" name="TextBox 19">
            <a:extLst>
              <a:ext uri="{FF2B5EF4-FFF2-40B4-BE49-F238E27FC236}">
                <a16:creationId xmlns:a16="http://schemas.microsoft.com/office/drawing/2014/main" id="{ACEA725A-260B-3E2F-0166-60BD62C14E69}"/>
              </a:ext>
            </a:extLst>
          </p:cNvPr>
          <p:cNvSpPr txBox="1">
            <a:spLocks noChangeArrowheads="1"/>
          </p:cNvSpPr>
          <p:nvPr/>
        </p:nvSpPr>
        <p:spPr bwMode="auto">
          <a:xfrm>
            <a:off x="457200" y="7315200"/>
            <a:ext cx="10972800" cy="7365017"/>
          </a:xfrm>
          <a:prstGeom prst="rect">
            <a:avLst/>
          </a:prstGeom>
          <a:noFill/>
          <a:ln w="12700">
            <a:solidFill>
              <a:srgbClr val="1E4D2B"/>
            </a:solidFill>
            <a:miter lim="800000"/>
            <a:headEnd/>
            <a:tailEnd/>
          </a:ln>
          <a:extLst>
            <a:ext uri="{909E8E84-426E-40DD-AFC4-6F175D3DCCD1}">
              <a14:hiddenFill xmlns:a14="http://schemas.microsoft.com/office/drawing/2010/main">
                <a:solidFill>
                  <a:srgbClr val="FFFFFF"/>
                </a:solidFill>
              </a14:hiddenFill>
            </a:ext>
          </a:extLst>
        </p:spPr>
        <p:txBody>
          <a:bodyPr wrap="square" lIns="365760" tIns="365760" rIns="365760" bIns="365760">
            <a:no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3200" dirty="0">
                <a:latin typeface="Open Sans" panose="020B0606030504020204" pitchFamily="34" charset="0"/>
                <a:ea typeface="Open Sans" panose="020B0606030504020204" pitchFamily="34" charset="0"/>
                <a:cs typeface="Open Sans" panose="020B0606030504020204" pitchFamily="34" charset="0"/>
              </a:rPr>
              <a:t>Colorado experiences numerous wildfires each summer that release pollutants into the atmosphere, contributing to climate change and harming human health and air quality. Fire Radiative Power (FRP) represents a fire’s radiative energy output and is directly correlated with pollutant emission rates, making it a valuable measure of wildfire intensity and environmental impact. Current satellite-based systems, such as MODIS aboard the Terra and Aqua satellites, can estimate FRP for large wildfires but are limited in spatial resolution and may miss smaller fires. This project aims to develop a compact, low-cost dual-color pyrometer to estimate FRP in smaller fires using infrared photodiode measurements</a:t>
            </a:r>
            <a:r>
              <a:rPr lang="en-US" sz="3200" dirty="0"/>
              <a:t>.</a:t>
            </a:r>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D70C9912-3FFD-E3EB-10B1-8ED485F4053D}"/>
              </a:ext>
            </a:extLst>
          </p:cNvPr>
          <p:cNvSpPr txBox="1"/>
          <p:nvPr/>
        </p:nvSpPr>
        <p:spPr>
          <a:xfrm>
            <a:off x="457200" y="6400800"/>
            <a:ext cx="10972800" cy="914400"/>
          </a:xfrm>
          <a:prstGeom prst="rect">
            <a:avLst/>
          </a:prstGeom>
          <a:solidFill>
            <a:srgbClr val="1E4D2B"/>
          </a:solidFill>
          <a:ln w="12700">
            <a:solidFill>
              <a:srgbClr val="1E4D2B"/>
            </a:solidFill>
          </a:ln>
        </p:spPr>
        <p:txBody>
          <a:bodyPr wrap="square" rtlCol="0" anchor="ctr">
            <a:noAutofit/>
          </a:bodyPr>
          <a:lstStyle/>
          <a:p>
            <a:pPr algn="ctr"/>
            <a:r>
              <a:rPr lang="en-US" sz="4400" dirty="0">
                <a:solidFill>
                  <a:schemeClr val="bg1"/>
                </a:solidFill>
                <a:latin typeface="Poppins" pitchFamily="2" charset="77"/>
                <a:cs typeface="Poppins" pitchFamily="2" charset="77"/>
              </a:rPr>
              <a:t>Introduction</a:t>
            </a:r>
          </a:p>
        </p:txBody>
      </p:sp>
      <p:sp>
        <p:nvSpPr>
          <p:cNvPr id="24" name="TextBox 19">
            <a:extLst>
              <a:ext uri="{FF2B5EF4-FFF2-40B4-BE49-F238E27FC236}">
                <a16:creationId xmlns:a16="http://schemas.microsoft.com/office/drawing/2014/main" id="{16A7D731-0EF5-9ADA-B9AF-C0E21F678670}"/>
              </a:ext>
            </a:extLst>
          </p:cNvPr>
          <p:cNvSpPr txBox="1">
            <a:spLocks noChangeArrowheads="1"/>
          </p:cNvSpPr>
          <p:nvPr/>
        </p:nvSpPr>
        <p:spPr bwMode="auto">
          <a:xfrm>
            <a:off x="457200" y="16002000"/>
            <a:ext cx="10972800" cy="10972800"/>
          </a:xfrm>
          <a:prstGeom prst="rect">
            <a:avLst/>
          </a:prstGeom>
          <a:noFill/>
          <a:ln w="12700">
            <a:solidFill>
              <a:srgbClr val="1E4D2B"/>
            </a:solidFill>
            <a:miter lim="800000"/>
            <a:headEnd/>
            <a:tailEnd/>
          </a:ln>
          <a:extLst>
            <a:ext uri="{909E8E84-426E-40DD-AFC4-6F175D3DCCD1}">
              <a14:hiddenFill xmlns:a14="http://schemas.microsoft.com/office/drawing/2010/main">
                <a:solidFill>
                  <a:srgbClr val="FFFFFF"/>
                </a:solidFill>
              </a14:hiddenFill>
            </a:ext>
          </a:extLst>
        </p:spPr>
        <p:txBody>
          <a:bodyPr wrap="square" lIns="365760" tIns="365760" rIns="365760" bIns="365760">
            <a:no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3200" dirty="0">
                <a:latin typeface="Open Sans" panose="020B0606030504020204" pitchFamily="34" charset="0"/>
                <a:ea typeface="Open Sans" panose="020B0606030504020204" pitchFamily="34" charset="0"/>
                <a:cs typeface="Open Sans" panose="020B0606030504020204" pitchFamily="34" charset="0"/>
              </a:rPr>
              <a:t>Wildfires emit a broad spectrum of infrared radiation. A two-color pyrometry method was used to estimate temperature by measuring intensities at 2 µm and 3.8 µm. The ratio of these intensities was mapped to Planck’s Law to determine temperature, which was then used to calculate radiative power. A benchtop optical system was built using an infrared calibration source (tungsten filament bulb) with a known temperature–current relationship. Emitted radiation was collected with a 100 mm lens and focused through a 250 mm lens into a prism. Using Snell’s Law, the 2 µm and 3.8 µm wavelengths were spatially separated at the focal plane, where photodiodes measured their intensities.</a:t>
            </a:r>
          </a:p>
        </p:txBody>
      </p:sp>
      <p:sp>
        <p:nvSpPr>
          <p:cNvPr id="25" name="TextBox 19">
            <a:extLst>
              <a:ext uri="{FF2B5EF4-FFF2-40B4-BE49-F238E27FC236}">
                <a16:creationId xmlns:a16="http://schemas.microsoft.com/office/drawing/2014/main" id="{25829147-8A21-16EF-1CEE-F2CB9909A23D}"/>
              </a:ext>
            </a:extLst>
          </p:cNvPr>
          <p:cNvSpPr txBox="1">
            <a:spLocks noChangeArrowheads="1"/>
          </p:cNvSpPr>
          <p:nvPr/>
        </p:nvSpPr>
        <p:spPr bwMode="auto">
          <a:xfrm>
            <a:off x="32461200" y="7315200"/>
            <a:ext cx="10972800" cy="9144000"/>
          </a:xfrm>
          <a:prstGeom prst="rect">
            <a:avLst/>
          </a:prstGeom>
          <a:noFill/>
          <a:ln w="12700">
            <a:solidFill>
              <a:srgbClr val="1E4D2B"/>
            </a:solidFill>
            <a:miter lim="800000"/>
            <a:headEnd/>
            <a:tailEnd/>
          </a:ln>
          <a:extLst>
            <a:ext uri="{909E8E84-426E-40DD-AFC4-6F175D3DCCD1}">
              <a14:hiddenFill xmlns:a14="http://schemas.microsoft.com/office/drawing/2010/main">
                <a:solidFill>
                  <a:srgbClr val="FFFFFF"/>
                </a:solidFill>
              </a14:hiddenFill>
            </a:ext>
          </a:extLst>
        </p:spPr>
        <p:txBody>
          <a:bodyPr wrap="square" lIns="457200" tIns="457200" rIns="457200" bIns="457200">
            <a:no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200" dirty="0">
                <a:latin typeface="Open Sans" panose="020B0606030504020204" pitchFamily="34" charset="0"/>
                <a:ea typeface="Open Sans" panose="020B0606030504020204" pitchFamily="34" charset="0"/>
                <a:cs typeface="Open Sans" panose="020B0606030504020204" pitchFamily="34" charset="0"/>
              </a:rPr>
              <a:t>Two-color pyrometry is rarely used for measuring the fire radiative power (FRP) of fires, aside from satellite-based systems like MODIS. Traditional two-color pyrometers rely on expensive optical filters, but this design uses a prism to isolate specific wavelengths for detection by two photodiodes at 2 µm and 3.8 µm. The measured intensities are mapped onto Planck’s curve to determine temperature, which is then converted into FRP using the Planck–Boltzmann law. Although the project is ongoing, simulations and initial results are promising. The next steps include integrating the second photodiode with the first and developing code for data acquisition to complete the system.</a:t>
            </a:r>
          </a:p>
        </p:txBody>
      </p:sp>
      <p:sp>
        <p:nvSpPr>
          <p:cNvPr id="26" name="TextBox 19">
            <a:extLst>
              <a:ext uri="{FF2B5EF4-FFF2-40B4-BE49-F238E27FC236}">
                <a16:creationId xmlns:a16="http://schemas.microsoft.com/office/drawing/2014/main" id="{5F324A9A-ED9E-6989-615B-AA32B1F8F264}"/>
              </a:ext>
            </a:extLst>
          </p:cNvPr>
          <p:cNvSpPr txBox="1">
            <a:spLocks noChangeArrowheads="1"/>
          </p:cNvSpPr>
          <p:nvPr/>
        </p:nvSpPr>
        <p:spPr bwMode="auto">
          <a:xfrm>
            <a:off x="32461200" y="17830800"/>
            <a:ext cx="10972800" cy="9144000"/>
          </a:xfrm>
          <a:prstGeom prst="rect">
            <a:avLst/>
          </a:prstGeom>
          <a:noFill/>
          <a:ln w="12700">
            <a:solidFill>
              <a:srgbClr val="1E4D2B"/>
            </a:solidFill>
            <a:miter lim="800000"/>
            <a:headEnd/>
            <a:tailEnd/>
          </a:ln>
          <a:extLst>
            <a:ext uri="{909E8E84-426E-40DD-AFC4-6F175D3DCCD1}">
              <a14:hiddenFill xmlns:a14="http://schemas.microsoft.com/office/drawing/2010/main">
                <a:solidFill>
                  <a:srgbClr val="FFFFFF"/>
                </a:solidFill>
              </a14:hiddenFill>
            </a:ext>
          </a:extLst>
        </p:spPr>
        <p:txBody>
          <a:bodyPr wrap="square" lIns="457200" tIns="457200" rIns="457200" bIns="457200">
            <a:no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200" b="0" i="0" u="none" strike="noStrike" dirty="0">
                <a:effectLst/>
                <a:latin typeface="Open Sans" panose="020B0606030504020204" pitchFamily="34" charset="0"/>
                <a:ea typeface="Open Sans" panose="020B0606030504020204" pitchFamily="34" charset="0"/>
                <a:cs typeface="Open Sans" panose="020B0606030504020204" pitchFamily="34" charset="0"/>
              </a:rPr>
              <a:t>This work was </a:t>
            </a:r>
            <a:r>
              <a:rPr lang="en-US" sz="3200" dirty="0">
                <a:latin typeface="Open Sans" panose="020B0606030504020204" pitchFamily="34" charset="0"/>
                <a:ea typeface="Open Sans" panose="020B0606030504020204" pitchFamily="34" charset="0"/>
                <a:cs typeface="Open Sans" panose="020B0606030504020204" pitchFamily="34" charset="0"/>
              </a:rPr>
              <a:t>completed during the Spring 2026 </a:t>
            </a:r>
            <a:r>
              <a:rPr lang="en-US" sz="3200" b="0" i="0" u="none" strike="noStrike" dirty="0">
                <a:effectLst/>
                <a:latin typeface="Open Sans" panose="020B0606030504020204" pitchFamily="34" charset="0"/>
                <a:ea typeface="Open Sans" panose="020B0606030504020204" pitchFamily="34" charset="0"/>
                <a:cs typeface="Open Sans" panose="020B0606030504020204" pitchFamily="34" charset="0"/>
              </a:rPr>
              <a:t>Scott Undergraduate Research Experience (SURE) which is</a:t>
            </a:r>
            <a:r>
              <a:rPr lang="en-US" sz="3200" dirty="0">
                <a:latin typeface="Open Sans" panose="020B0606030504020204" pitchFamily="34" charset="0"/>
                <a:ea typeface="Open Sans" panose="020B0606030504020204" pitchFamily="34" charset="0"/>
                <a:cs typeface="Open Sans" panose="020B0606030504020204" pitchFamily="34" charset="0"/>
              </a:rPr>
              <a:t> generously </a:t>
            </a:r>
            <a:r>
              <a:rPr lang="en-US" sz="3200" b="0" i="0" u="none" strike="noStrike" dirty="0">
                <a:effectLst/>
                <a:latin typeface="Open Sans" panose="020B0606030504020204" pitchFamily="34" charset="0"/>
                <a:ea typeface="Open Sans" panose="020B0606030504020204" pitchFamily="34" charset="0"/>
                <a:cs typeface="Open Sans" panose="020B0606030504020204" pitchFamily="34" charset="0"/>
              </a:rPr>
              <a:t>funded by the Suzanne and Walter Scott Foundation and the Walter Scott, Jr. College of Engineering at Colorado State University. Additionally, funding for this project was provided to the LAQR by the </a:t>
            </a:r>
            <a:r>
              <a:rPr lang="en-US" sz="3200" dirty="0">
                <a:latin typeface="Open Sans" panose="020B0606030504020204" pitchFamily="34" charset="0"/>
                <a:ea typeface="Open Sans" panose="020B0606030504020204" pitchFamily="34" charset="0"/>
                <a:cs typeface="Open Sans" panose="020B0606030504020204" pitchFamily="34" charset="0"/>
              </a:rPr>
              <a:t>AJ </a:t>
            </a:r>
            <a:r>
              <a:rPr lang="en-US" sz="3200" dirty="0" err="1">
                <a:latin typeface="Open Sans" panose="020B0606030504020204" pitchFamily="34" charset="0"/>
                <a:ea typeface="Open Sans" panose="020B0606030504020204" pitchFamily="34" charset="0"/>
                <a:cs typeface="Open Sans" panose="020B0606030504020204" pitchFamily="34" charset="0"/>
              </a:rPr>
              <a:t>Kauvar</a:t>
            </a:r>
            <a:r>
              <a:rPr lang="en-US" sz="3200" dirty="0">
                <a:latin typeface="Open Sans" panose="020B0606030504020204" pitchFamily="34" charset="0"/>
                <a:ea typeface="Open Sans" panose="020B0606030504020204" pitchFamily="34" charset="0"/>
                <a:cs typeface="Open Sans" panose="020B0606030504020204" pitchFamily="34" charset="0"/>
              </a:rPr>
              <a:t> Foundation. </a:t>
            </a:r>
            <a:endParaRPr lang="en-US" sz="3200" b="0" i="0" u="none" strike="noStrike" dirty="0">
              <a:effectLst/>
              <a:latin typeface="Open Sans" panose="020B0606030504020204" pitchFamily="34" charset="0"/>
              <a:ea typeface="Open Sans" panose="020B0606030504020204" pitchFamily="34" charset="0"/>
              <a:cs typeface="Open Sans" panose="020B0606030504020204" pitchFamily="34" charset="0"/>
            </a:endParaRPr>
          </a:p>
          <a:p>
            <a:pPr algn="just">
              <a:lnSpc>
                <a:spcPct val="110000"/>
              </a:lnSpc>
            </a:pPr>
            <a:endParaRPr lang="en-US" sz="3200" dirty="0">
              <a:latin typeface="Open Sans" panose="020B0606030504020204" pitchFamily="34" charset="0"/>
              <a:ea typeface="Open Sans" panose="020B0606030504020204" pitchFamily="34" charset="0"/>
              <a:cs typeface="Open Sans" panose="020B0606030504020204" pitchFamily="34" charset="0"/>
            </a:endParaRPr>
          </a:p>
          <a:p>
            <a:pPr>
              <a:lnSpc>
                <a:spcPct val="110000"/>
              </a:lnSpc>
            </a:pPr>
            <a:endParaRPr lang="en-US" sz="3200" dirty="0">
              <a:latin typeface="Open Sans" panose="020B0606030504020204" pitchFamily="34" charset="0"/>
              <a:ea typeface="Open Sans" panose="020B0606030504020204" pitchFamily="34" charset="0"/>
              <a:cs typeface="Open Sans" panose="020B0606030504020204" pitchFamily="34" charset="0"/>
            </a:endParaRPr>
          </a:p>
          <a:p>
            <a:pPr>
              <a:lnSpc>
                <a:spcPct val="110000"/>
              </a:lnSpc>
            </a:pPr>
            <a:r>
              <a:rPr lang="en-US" sz="3200" dirty="0">
                <a:latin typeface="Open Sans" panose="020B0606030504020204" pitchFamily="34" charset="0"/>
                <a:ea typeface="Open Sans" panose="020B0606030504020204" pitchFamily="34" charset="0"/>
                <a:cs typeface="Open Sans" panose="020B0606030504020204" pitchFamily="34" charset="0"/>
              </a:rPr>
              <a:t> </a:t>
            </a:r>
          </a:p>
        </p:txBody>
      </p:sp>
      <p:sp>
        <p:nvSpPr>
          <p:cNvPr id="27" name="TextBox 19">
            <a:extLst>
              <a:ext uri="{FF2B5EF4-FFF2-40B4-BE49-F238E27FC236}">
                <a16:creationId xmlns:a16="http://schemas.microsoft.com/office/drawing/2014/main" id="{6F514FB1-56BE-EA6A-3038-3340DBC54CF2}"/>
              </a:ext>
            </a:extLst>
          </p:cNvPr>
          <p:cNvSpPr txBox="1">
            <a:spLocks noChangeArrowheads="1"/>
          </p:cNvSpPr>
          <p:nvPr/>
        </p:nvSpPr>
        <p:spPr bwMode="auto">
          <a:xfrm>
            <a:off x="11887200" y="7315200"/>
            <a:ext cx="20116800" cy="14173200"/>
          </a:xfrm>
          <a:prstGeom prst="rect">
            <a:avLst/>
          </a:prstGeom>
          <a:noFill/>
          <a:ln w="12700">
            <a:solidFill>
              <a:srgbClr val="1E4D2B"/>
            </a:solidFill>
            <a:miter lim="800000"/>
            <a:headEnd/>
            <a:tailEnd/>
          </a:ln>
          <a:extLst>
            <a:ext uri="{909E8E84-426E-40DD-AFC4-6F175D3DCCD1}">
              <a14:hiddenFill xmlns:a14="http://schemas.microsoft.com/office/drawing/2010/main">
                <a:solidFill>
                  <a:srgbClr val="FFFFFF"/>
                </a:solidFill>
              </a14:hiddenFill>
            </a:ext>
          </a:extLst>
        </p:spPr>
        <p:txBody>
          <a:bodyPr wrap="square" lIns="457200" tIns="457200" rIns="457200" bIns="457200">
            <a:no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nSpc>
                <a:spcPct val="110000"/>
              </a:lnSpc>
            </a:pPr>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Box 27">
            <a:extLst>
              <a:ext uri="{FF2B5EF4-FFF2-40B4-BE49-F238E27FC236}">
                <a16:creationId xmlns:a16="http://schemas.microsoft.com/office/drawing/2014/main" id="{62C3DF0E-3D31-49BE-794F-FC88245585EB}"/>
              </a:ext>
            </a:extLst>
          </p:cNvPr>
          <p:cNvSpPr txBox="1"/>
          <p:nvPr/>
        </p:nvSpPr>
        <p:spPr>
          <a:xfrm>
            <a:off x="457200" y="15087600"/>
            <a:ext cx="10972800" cy="914400"/>
          </a:xfrm>
          <a:prstGeom prst="rect">
            <a:avLst/>
          </a:prstGeom>
          <a:solidFill>
            <a:srgbClr val="1E4D2B"/>
          </a:solidFill>
          <a:ln w="12700">
            <a:solidFill>
              <a:srgbClr val="1E4D2B"/>
            </a:solidFill>
          </a:ln>
        </p:spPr>
        <p:txBody>
          <a:bodyPr wrap="square" rtlCol="0" anchor="ctr">
            <a:noAutofit/>
          </a:bodyPr>
          <a:lstStyle/>
          <a:p>
            <a:pPr algn="ctr"/>
            <a:r>
              <a:rPr lang="en-US" sz="4400" dirty="0">
                <a:solidFill>
                  <a:schemeClr val="bg1"/>
                </a:solidFill>
                <a:latin typeface="Poppins" pitchFamily="2" charset="77"/>
                <a:cs typeface="Poppins" pitchFamily="2" charset="77"/>
              </a:rPr>
              <a:t>Methods</a:t>
            </a:r>
          </a:p>
        </p:txBody>
      </p:sp>
      <p:sp>
        <p:nvSpPr>
          <p:cNvPr id="30" name="TextBox 29">
            <a:extLst>
              <a:ext uri="{FF2B5EF4-FFF2-40B4-BE49-F238E27FC236}">
                <a16:creationId xmlns:a16="http://schemas.microsoft.com/office/drawing/2014/main" id="{C19A248A-F5AB-8D95-1235-078E5C5A2BC2}"/>
              </a:ext>
            </a:extLst>
          </p:cNvPr>
          <p:cNvSpPr txBox="1"/>
          <p:nvPr/>
        </p:nvSpPr>
        <p:spPr>
          <a:xfrm>
            <a:off x="11887200" y="6400800"/>
            <a:ext cx="20116800" cy="914400"/>
          </a:xfrm>
          <a:prstGeom prst="rect">
            <a:avLst/>
          </a:prstGeom>
          <a:solidFill>
            <a:srgbClr val="1E4D2B"/>
          </a:solidFill>
          <a:ln w="12700">
            <a:solidFill>
              <a:srgbClr val="1E4D2B"/>
            </a:solidFill>
          </a:ln>
        </p:spPr>
        <p:txBody>
          <a:bodyPr wrap="square" rtlCol="0" anchor="ctr">
            <a:noAutofit/>
          </a:bodyPr>
          <a:lstStyle/>
          <a:p>
            <a:pPr algn="ctr"/>
            <a:r>
              <a:rPr lang="en-US" sz="4400" dirty="0">
                <a:solidFill>
                  <a:schemeClr val="bg1"/>
                </a:solidFill>
                <a:latin typeface="Poppins" pitchFamily="2" charset="77"/>
                <a:cs typeface="Poppins" pitchFamily="2" charset="77"/>
              </a:rPr>
              <a:t>Results</a:t>
            </a:r>
          </a:p>
        </p:txBody>
      </p:sp>
      <p:sp>
        <p:nvSpPr>
          <p:cNvPr id="31" name="TextBox 30">
            <a:extLst>
              <a:ext uri="{FF2B5EF4-FFF2-40B4-BE49-F238E27FC236}">
                <a16:creationId xmlns:a16="http://schemas.microsoft.com/office/drawing/2014/main" id="{9D934F81-E34B-3F82-2BDF-586DDCD66F06}"/>
              </a:ext>
            </a:extLst>
          </p:cNvPr>
          <p:cNvSpPr txBox="1"/>
          <p:nvPr/>
        </p:nvSpPr>
        <p:spPr>
          <a:xfrm>
            <a:off x="32461200" y="6400800"/>
            <a:ext cx="10972800" cy="914400"/>
          </a:xfrm>
          <a:prstGeom prst="rect">
            <a:avLst/>
          </a:prstGeom>
          <a:solidFill>
            <a:srgbClr val="1E4D2B"/>
          </a:solidFill>
          <a:ln w="12700">
            <a:solidFill>
              <a:srgbClr val="1E4D2B"/>
            </a:solidFill>
          </a:ln>
        </p:spPr>
        <p:txBody>
          <a:bodyPr wrap="square" rtlCol="0" anchor="ctr">
            <a:noAutofit/>
          </a:bodyPr>
          <a:lstStyle/>
          <a:p>
            <a:pPr algn="ctr"/>
            <a:r>
              <a:rPr lang="en-US" sz="4400" dirty="0">
                <a:solidFill>
                  <a:schemeClr val="bg1"/>
                </a:solidFill>
                <a:latin typeface="Poppins" pitchFamily="2" charset="77"/>
                <a:cs typeface="Poppins" pitchFamily="2" charset="77"/>
              </a:rPr>
              <a:t>Conclusion</a:t>
            </a:r>
          </a:p>
        </p:txBody>
      </p:sp>
      <p:sp>
        <p:nvSpPr>
          <p:cNvPr id="32" name="TextBox 31">
            <a:extLst>
              <a:ext uri="{FF2B5EF4-FFF2-40B4-BE49-F238E27FC236}">
                <a16:creationId xmlns:a16="http://schemas.microsoft.com/office/drawing/2014/main" id="{5B71BE7F-394B-7F38-1202-22682B80753B}"/>
              </a:ext>
            </a:extLst>
          </p:cNvPr>
          <p:cNvSpPr txBox="1"/>
          <p:nvPr/>
        </p:nvSpPr>
        <p:spPr>
          <a:xfrm>
            <a:off x="32461200" y="16916400"/>
            <a:ext cx="10972800" cy="914400"/>
          </a:xfrm>
          <a:prstGeom prst="rect">
            <a:avLst/>
          </a:prstGeom>
          <a:solidFill>
            <a:srgbClr val="1E4D2B"/>
          </a:solidFill>
          <a:ln w="12700">
            <a:solidFill>
              <a:srgbClr val="1E4D2B"/>
            </a:solidFill>
          </a:ln>
        </p:spPr>
        <p:txBody>
          <a:bodyPr wrap="square" rtlCol="0" anchor="ctr">
            <a:noAutofit/>
          </a:bodyPr>
          <a:lstStyle/>
          <a:p>
            <a:pPr algn="ctr"/>
            <a:r>
              <a:rPr lang="en-US" sz="4400" dirty="0">
                <a:solidFill>
                  <a:schemeClr val="bg1"/>
                </a:solidFill>
                <a:latin typeface="Poppins" pitchFamily="2" charset="77"/>
                <a:cs typeface="Poppins" pitchFamily="2" charset="77"/>
              </a:rPr>
              <a:t>References &amp; Acknowledgements</a:t>
            </a:r>
          </a:p>
        </p:txBody>
      </p:sp>
      <p:sp>
        <p:nvSpPr>
          <p:cNvPr id="33" name="TextBox 32">
            <a:extLst>
              <a:ext uri="{FF2B5EF4-FFF2-40B4-BE49-F238E27FC236}">
                <a16:creationId xmlns:a16="http://schemas.microsoft.com/office/drawing/2014/main" id="{146CB09B-1D54-4FB0-299B-440C201B001E}"/>
              </a:ext>
            </a:extLst>
          </p:cNvPr>
          <p:cNvSpPr txBox="1"/>
          <p:nvPr/>
        </p:nvSpPr>
        <p:spPr>
          <a:xfrm>
            <a:off x="457200" y="27432000"/>
            <a:ext cx="21259800" cy="914400"/>
          </a:xfrm>
          <a:prstGeom prst="rect">
            <a:avLst/>
          </a:prstGeom>
          <a:solidFill>
            <a:srgbClr val="59595B"/>
          </a:solidFill>
          <a:ln w="12700">
            <a:solidFill>
              <a:srgbClr val="59595B"/>
            </a:solidFill>
          </a:ln>
        </p:spPr>
        <p:txBody>
          <a:bodyPr wrap="square" rtlCol="0" anchor="ctr">
            <a:noAutofit/>
          </a:bodyPr>
          <a:lstStyle/>
          <a:p>
            <a:pPr algn="ctr"/>
            <a:r>
              <a:rPr lang="en-US" sz="4400" dirty="0">
                <a:solidFill>
                  <a:schemeClr val="bg1"/>
                </a:solidFill>
                <a:latin typeface="Poppins" pitchFamily="2" charset="77"/>
                <a:cs typeface="Poppins" pitchFamily="2" charset="77"/>
              </a:rPr>
              <a:t>Applying what I’ve learned from SURE</a:t>
            </a:r>
          </a:p>
        </p:txBody>
      </p:sp>
      <p:sp>
        <p:nvSpPr>
          <p:cNvPr id="34" name="TextBox 19">
            <a:extLst>
              <a:ext uri="{FF2B5EF4-FFF2-40B4-BE49-F238E27FC236}">
                <a16:creationId xmlns:a16="http://schemas.microsoft.com/office/drawing/2014/main" id="{AC355AA5-42A3-07FC-89A3-749565D4E423}"/>
              </a:ext>
            </a:extLst>
          </p:cNvPr>
          <p:cNvSpPr txBox="1">
            <a:spLocks noChangeArrowheads="1"/>
          </p:cNvSpPr>
          <p:nvPr/>
        </p:nvSpPr>
        <p:spPr bwMode="auto">
          <a:xfrm>
            <a:off x="457200" y="28346400"/>
            <a:ext cx="21259800" cy="4114800"/>
          </a:xfrm>
          <a:prstGeom prst="rect">
            <a:avLst/>
          </a:prstGeom>
          <a:noFill/>
          <a:ln w="12700">
            <a:solidFill>
              <a:srgbClr val="59595B"/>
            </a:solidFill>
            <a:miter lim="800000"/>
            <a:headEnd/>
            <a:tailEnd/>
          </a:ln>
          <a:extLst>
            <a:ext uri="{909E8E84-426E-40DD-AFC4-6F175D3DCCD1}">
              <a14:hiddenFill xmlns:a14="http://schemas.microsoft.com/office/drawing/2010/main">
                <a:solidFill>
                  <a:srgbClr val="FFFFFF"/>
                </a:solidFill>
              </a14:hiddenFill>
            </a:ext>
          </a:extLst>
        </p:spPr>
        <p:txBody>
          <a:bodyPr wrap="square" lIns="365760" tIns="365760" rIns="365760" bIns="365760">
            <a:no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3200" dirty="0">
                <a:latin typeface="Open Sans" panose="020B0606030504020204" pitchFamily="34" charset="0"/>
                <a:ea typeface="Open Sans" panose="020B0606030504020204" pitchFamily="34" charset="0"/>
                <a:cs typeface="Open Sans" panose="020B0606030504020204" pitchFamily="34" charset="0"/>
              </a:rPr>
              <a:t>Through the SURE program, I gained hands-on experience with pyrometry, optics, and blackbody radiation, strengthening both my theoretical understanding and practical skills. I learned how to design experiments, work with optical systems, and analyze data to extract meaningful measurements. These experiences will help me excel in future studies and prepare me to contribute effectively in research or engineering roles, giving me practical experience that sets me apart from my peers.</a:t>
            </a:r>
          </a:p>
        </p:txBody>
      </p:sp>
      <p:sp>
        <p:nvSpPr>
          <p:cNvPr id="35" name="TextBox 19">
            <a:extLst>
              <a:ext uri="{FF2B5EF4-FFF2-40B4-BE49-F238E27FC236}">
                <a16:creationId xmlns:a16="http://schemas.microsoft.com/office/drawing/2014/main" id="{07BF858B-E586-994E-520D-DACF187597B7}"/>
              </a:ext>
            </a:extLst>
          </p:cNvPr>
          <p:cNvSpPr txBox="1">
            <a:spLocks noChangeArrowheads="1"/>
          </p:cNvSpPr>
          <p:nvPr/>
        </p:nvSpPr>
        <p:spPr bwMode="auto">
          <a:xfrm>
            <a:off x="22174200" y="28346400"/>
            <a:ext cx="21259800" cy="4114800"/>
          </a:xfrm>
          <a:prstGeom prst="rect">
            <a:avLst/>
          </a:prstGeom>
          <a:noFill/>
          <a:ln w="12700">
            <a:solidFill>
              <a:srgbClr val="59595B"/>
            </a:solidFill>
            <a:miter lim="800000"/>
            <a:headEnd/>
            <a:tailEnd/>
          </a:ln>
          <a:extLst>
            <a:ext uri="{909E8E84-426E-40DD-AFC4-6F175D3DCCD1}">
              <a14:hiddenFill xmlns:a14="http://schemas.microsoft.com/office/drawing/2010/main">
                <a:solidFill>
                  <a:srgbClr val="FFFFFF"/>
                </a:solidFill>
              </a14:hiddenFill>
            </a:ext>
          </a:extLst>
        </p:spPr>
        <p:txBody>
          <a:bodyPr wrap="square" lIns="365760" tIns="365760" rIns="365760" bIns="365760">
            <a:no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3200" dirty="0">
                <a:latin typeface="Open Sans" panose="020B0606030504020204" pitchFamily="34" charset="0"/>
                <a:ea typeface="Open Sans" panose="020B0606030504020204" pitchFamily="34" charset="0"/>
                <a:cs typeface="Open Sans" panose="020B0606030504020204" pitchFamily="34" charset="0"/>
              </a:rPr>
              <a:t>Through SURE, I have learned how to work effectively in a research lab, gaining the skills and understanding needed to communicate with professors, graduate students, and academic sources such as papers and articles. I have also built valuable connections at CSU that will support my future research and academic growth. Most importantly, SURE has opened doors for me to continue working on this project and explore other exciting research opportunities throughout my academic career.</a:t>
            </a:r>
          </a:p>
        </p:txBody>
      </p:sp>
      <p:sp>
        <p:nvSpPr>
          <p:cNvPr id="36" name="TextBox 35">
            <a:extLst>
              <a:ext uri="{FF2B5EF4-FFF2-40B4-BE49-F238E27FC236}">
                <a16:creationId xmlns:a16="http://schemas.microsoft.com/office/drawing/2014/main" id="{DEFD13FE-1DFE-475E-2931-449F1D7118A4}"/>
              </a:ext>
            </a:extLst>
          </p:cNvPr>
          <p:cNvSpPr txBox="1"/>
          <p:nvPr/>
        </p:nvSpPr>
        <p:spPr>
          <a:xfrm>
            <a:off x="22174200" y="27432000"/>
            <a:ext cx="21259800" cy="914400"/>
          </a:xfrm>
          <a:prstGeom prst="rect">
            <a:avLst/>
          </a:prstGeom>
          <a:solidFill>
            <a:srgbClr val="59595B"/>
          </a:solidFill>
          <a:ln w="12700">
            <a:solidFill>
              <a:srgbClr val="59595B"/>
            </a:solidFill>
          </a:ln>
        </p:spPr>
        <p:txBody>
          <a:bodyPr wrap="square" rtlCol="0" anchor="ctr">
            <a:noAutofit/>
          </a:bodyPr>
          <a:lstStyle/>
          <a:p>
            <a:pPr algn="ctr"/>
            <a:r>
              <a:rPr lang="en-US" sz="4400" dirty="0">
                <a:solidFill>
                  <a:schemeClr val="bg1"/>
                </a:solidFill>
                <a:latin typeface="Poppins" pitchFamily="2" charset="77"/>
                <a:cs typeface="Poppins" pitchFamily="2" charset="77"/>
              </a:rPr>
              <a:t>Benefits gained from SURE</a:t>
            </a:r>
          </a:p>
        </p:txBody>
      </p:sp>
      <p:sp>
        <p:nvSpPr>
          <p:cNvPr id="5" name="TextBox 19">
            <a:extLst>
              <a:ext uri="{FF2B5EF4-FFF2-40B4-BE49-F238E27FC236}">
                <a16:creationId xmlns:a16="http://schemas.microsoft.com/office/drawing/2014/main" id="{7601443F-DD6F-B82D-A2BA-65E58C311C8D}"/>
              </a:ext>
            </a:extLst>
          </p:cNvPr>
          <p:cNvSpPr txBox="1">
            <a:spLocks noChangeArrowheads="1"/>
          </p:cNvSpPr>
          <p:nvPr/>
        </p:nvSpPr>
        <p:spPr bwMode="auto">
          <a:xfrm>
            <a:off x="11887200" y="22860000"/>
            <a:ext cx="20116800" cy="4114800"/>
          </a:xfrm>
          <a:prstGeom prst="rect">
            <a:avLst/>
          </a:prstGeom>
          <a:noFill/>
          <a:ln w="12700">
            <a:solidFill>
              <a:srgbClr val="1E4D2B"/>
            </a:solidFill>
            <a:miter lim="800000"/>
            <a:headEnd/>
            <a:tailEnd/>
          </a:ln>
          <a:extLst>
            <a:ext uri="{909E8E84-426E-40DD-AFC4-6F175D3DCCD1}">
              <a14:hiddenFill xmlns:a14="http://schemas.microsoft.com/office/drawing/2010/main">
                <a:solidFill>
                  <a:srgbClr val="FFFFFF"/>
                </a:solidFill>
              </a14:hiddenFill>
            </a:ext>
          </a:extLst>
        </p:spPr>
        <p:txBody>
          <a:bodyPr wrap="square" lIns="457200" tIns="457200" rIns="457200" bIns="457200">
            <a:no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3200" dirty="0">
                <a:latin typeface="Open Sans" panose="020B0606030504020204" pitchFamily="34" charset="0"/>
                <a:ea typeface="Open Sans" panose="020B0606030504020204" pitchFamily="34" charset="0"/>
                <a:cs typeface="Open Sans" panose="020B0606030504020204" pitchFamily="34" charset="0"/>
              </a:rPr>
              <a:t>Preliminary testing demonstrates that the system produces results consistent with expected theoretical behavior. The photodiode response across the infrared spectrum follows the general shape predicted by Planck's Law, with deviations attributable to detector responsivity and manufacturing limitations. A primary challenge in the system design has been isolating specific wavelengths for accurate measurement. To maintain a low-cost design, optical filters were not used. Instead, a prism-based dispersion method was implemented to separate the target wavelengths (2 µm and 3.8 µm), enabling selective detection with photodiodes.</a:t>
            </a:r>
          </a:p>
        </p:txBody>
      </p:sp>
      <p:sp>
        <p:nvSpPr>
          <p:cNvPr id="6" name="TextBox 5">
            <a:extLst>
              <a:ext uri="{FF2B5EF4-FFF2-40B4-BE49-F238E27FC236}">
                <a16:creationId xmlns:a16="http://schemas.microsoft.com/office/drawing/2014/main" id="{90198476-27F6-5211-628B-AC2339F42FF1}"/>
              </a:ext>
            </a:extLst>
          </p:cNvPr>
          <p:cNvSpPr txBox="1"/>
          <p:nvPr/>
        </p:nvSpPr>
        <p:spPr>
          <a:xfrm>
            <a:off x="11887200" y="21945600"/>
            <a:ext cx="20116800" cy="914400"/>
          </a:xfrm>
          <a:prstGeom prst="rect">
            <a:avLst/>
          </a:prstGeom>
          <a:solidFill>
            <a:srgbClr val="1E4D2B"/>
          </a:solidFill>
          <a:ln w="12700">
            <a:solidFill>
              <a:srgbClr val="1E4D2B"/>
            </a:solidFill>
          </a:ln>
        </p:spPr>
        <p:txBody>
          <a:bodyPr wrap="square" rtlCol="0" anchor="ctr">
            <a:noAutofit/>
          </a:bodyPr>
          <a:lstStyle/>
          <a:p>
            <a:pPr algn="ctr"/>
            <a:r>
              <a:rPr lang="en-US" sz="4400" dirty="0">
                <a:solidFill>
                  <a:schemeClr val="bg1"/>
                </a:solidFill>
                <a:latin typeface="Poppins" pitchFamily="2" charset="77"/>
                <a:cs typeface="Poppins" pitchFamily="2" charset="77"/>
              </a:rPr>
              <a:t>Discussion</a:t>
            </a:r>
          </a:p>
        </p:txBody>
      </p:sp>
      <p:pic>
        <p:nvPicPr>
          <p:cNvPr id="48" name="Picture 47">
            <a:extLst>
              <a:ext uri="{FF2B5EF4-FFF2-40B4-BE49-F238E27FC236}">
                <a16:creationId xmlns:a16="http://schemas.microsoft.com/office/drawing/2014/main" id="{0D7672FD-FCA2-721F-39E8-E7B63032AAC1}"/>
              </a:ext>
            </a:extLst>
          </p:cNvPr>
          <p:cNvPicPr>
            <a:picLocks noChangeAspect="1"/>
          </p:cNvPicPr>
          <p:nvPr/>
        </p:nvPicPr>
        <p:blipFill>
          <a:blip r:embed="rId3" cstate="print">
            <a:extLst>
              <a:ext uri="{28A0092B-C50C-407E-A947-70E740481C1C}">
                <a14:useLocalDpi xmlns:a14="http://schemas.microsoft.com/office/drawing/2010/main" val="0"/>
              </a:ext>
            </a:extLst>
          </a:blip>
          <a:srcRect l="16676" t="29694" r="11110" b="23016"/>
          <a:stretch>
            <a:fillRect/>
          </a:stretch>
        </p:blipFill>
        <p:spPr>
          <a:xfrm rot="16200000">
            <a:off x="1588194" y="22882181"/>
            <a:ext cx="3180050" cy="4527638"/>
          </a:xfrm>
          <a:prstGeom prst="rect">
            <a:avLst/>
          </a:prstGeom>
        </p:spPr>
      </p:pic>
      <p:pic>
        <p:nvPicPr>
          <p:cNvPr id="50" name="Picture 49">
            <a:extLst>
              <a:ext uri="{FF2B5EF4-FFF2-40B4-BE49-F238E27FC236}">
                <a16:creationId xmlns:a16="http://schemas.microsoft.com/office/drawing/2014/main" id="{5A3CCA8E-EE18-D0B9-5286-CFA1D4177B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7036450" y="23348315"/>
            <a:ext cx="3906504" cy="2929877"/>
          </a:xfrm>
          <a:prstGeom prst="rect">
            <a:avLst/>
          </a:prstGeom>
        </p:spPr>
      </p:pic>
      <p:pic>
        <p:nvPicPr>
          <p:cNvPr id="52" name="Picture 51">
            <a:extLst>
              <a:ext uri="{FF2B5EF4-FFF2-40B4-BE49-F238E27FC236}">
                <a16:creationId xmlns:a16="http://schemas.microsoft.com/office/drawing/2014/main" id="{EBC985EE-6F75-6356-47D6-4688C311DE9B}"/>
              </a:ext>
            </a:extLst>
          </p:cNvPr>
          <p:cNvPicPr>
            <a:picLocks noChangeAspect="1"/>
          </p:cNvPicPr>
          <p:nvPr/>
        </p:nvPicPr>
        <p:blipFill>
          <a:blip r:embed="rId5"/>
          <a:stretch>
            <a:fillRect/>
          </a:stretch>
        </p:blipFill>
        <p:spPr>
          <a:xfrm>
            <a:off x="12520246" y="14597488"/>
            <a:ext cx="7003054" cy="6316481"/>
          </a:xfrm>
          <a:prstGeom prst="rect">
            <a:avLst/>
          </a:prstGeom>
        </p:spPr>
      </p:pic>
      <p:pic>
        <p:nvPicPr>
          <p:cNvPr id="54" name="Picture 53">
            <a:extLst>
              <a:ext uri="{FF2B5EF4-FFF2-40B4-BE49-F238E27FC236}">
                <a16:creationId xmlns:a16="http://schemas.microsoft.com/office/drawing/2014/main" id="{9E4DE1CD-9EBB-3AD7-8C34-AFC0B945CB34}"/>
              </a:ext>
            </a:extLst>
          </p:cNvPr>
          <p:cNvPicPr>
            <a:picLocks noChangeAspect="1"/>
          </p:cNvPicPr>
          <p:nvPr/>
        </p:nvPicPr>
        <p:blipFill>
          <a:blip r:embed="rId6"/>
          <a:stretch>
            <a:fillRect/>
          </a:stretch>
        </p:blipFill>
        <p:spPr>
          <a:xfrm>
            <a:off x="19980500" y="14677379"/>
            <a:ext cx="7003053" cy="6306842"/>
          </a:xfrm>
          <a:prstGeom prst="rect">
            <a:avLst/>
          </a:prstGeom>
        </p:spPr>
      </p:pic>
      <p:sp>
        <p:nvSpPr>
          <p:cNvPr id="56" name="TextBox 55">
            <a:extLst>
              <a:ext uri="{FF2B5EF4-FFF2-40B4-BE49-F238E27FC236}">
                <a16:creationId xmlns:a16="http://schemas.microsoft.com/office/drawing/2014/main" id="{710CD604-E765-ED00-556A-AE8BC9CACBD1}"/>
              </a:ext>
            </a:extLst>
          </p:cNvPr>
          <p:cNvSpPr txBox="1"/>
          <p:nvPr/>
        </p:nvSpPr>
        <p:spPr>
          <a:xfrm>
            <a:off x="27123106" y="14710097"/>
            <a:ext cx="4781190" cy="6494085"/>
          </a:xfrm>
          <a:prstGeom prst="rect">
            <a:avLst/>
          </a:prstGeom>
          <a:noFill/>
        </p:spPr>
        <p:txBody>
          <a:bodyPr wrap="square" rtlCol="0">
            <a:spAutoFit/>
          </a:bodyPr>
          <a:lstStyle/>
          <a:p>
            <a:r>
              <a:rPr lang="en-US" sz="3200" dirty="0">
                <a:latin typeface="Open Sans" panose="020B0606030504020204" pitchFamily="34" charset="0"/>
                <a:ea typeface="Open Sans" panose="020B0606030504020204" pitchFamily="34" charset="0"/>
                <a:cs typeface="Open Sans" panose="020B0606030504020204" pitchFamily="34" charset="0"/>
              </a:rPr>
              <a:t>Selected wavelengths on Planck’s curve at 1000 K, a typical temperature for the fires of interest. The ratio of measured spectral radiance between λ₁ and λ₂ enables two-color pyrometry: by measuring both intensities FRP can be derived</a:t>
            </a:r>
            <a:r>
              <a:rPr lang="en-US" sz="3200" dirty="0"/>
              <a:t>.</a:t>
            </a:r>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61" name="TextBox 60">
            <a:extLst>
              <a:ext uri="{FF2B5EF4-FFF2-40B4-BE49-F238E27FC236}">
                <a16:creationId xmlns:a16="http://schemas.microsoft.com/office/drawing/2014/main" id="{00C2F5C0-3B0F-9550-D5AE-3AB48E464F16}"/>
              </a:ext>
            </a:extLst>
          </p:cNvPr>
          <p:cNvSpPr txBox="1"/>
          <p:nvPr/>
        </p:nvSpPr>
        <p:spPr>
          <a:xfrm>
            <a:off x="12520246" y="13404404"/>
            <a:ext cx="18850708" cy="584775"/>
          </a:xfrm>
          <a:prstGeom prst="rect">
            <a:avLst/>
          </a:prstGeom>
          <a:noFill/>
        </p:spPr>
        <p:txBody>
          <a:bodyPr wrap="square" rtlCol="0">
            <a:spAutoFit/>
          </a:bodyPr>
          <a:lstStyle/>
          <a:p>
            <a:pPr algn="ctr"/>
            <a:r>
              <a:rPr lang="en-US" sz="3200" dirty="0">
                <a:latin typeface="Open Sans" panose="020B0606030504020204" pitchFamily="34" charset="0"/>
                <a:ea typeface="Open Sans" panose="020B0606030504020204" pitchFamily="34" charset="0"/>
                <a:cs typeface="Open Sans" panose="020B0606030504020204" pitchFamily="34" charset="0"/>
              </a:rPr>
              <a:t>Simulated rays of light through lenses and prism of current setup </a:t>
            </a:r>
          </a:p>
        </p:txBody>
      </p:sp>
      <p:pic>
        <p:nvPicPr>
          <p:cNvPr id="9" name="Picture 8">
            <a:extLst>
              <a:ext uri="{FF2B5EF4-FFF2-40B4-BE49-F238E27FC236}">
                <a16:creationId xmlns:a16="http://schemas.microsoft.com/office/drawing/2014/main" id="{024013EF-0293-EB9B-9B39-351291361689}"/>
              </a:ext>
            </a:extLst>
          </p:cNvPr>
          <p:cNvPicPr>
            <a:picLocks noChangeAspect="1"/>
          </p:cNvPicPr>
          <p:nvPr/>
        </p:nvPicPr>
        <p:blipFill>
          <a:blip r:embed="rId7"/>
          <a:stretch>
            <a:fillRect/>
          </a:stretch>
        </p:blipFill>
        <p:spPr>
          <a:xfrm>
            <a:off x="12210944" y="7640857"/>
            <a:ext cx="19535147" cy="5477338"/>
          </a:xfrm>
          <a:prstGeom prst="rect">
            <a:avLst/>
          </a:prstGeom>
        </p:spPr>
      </p:pic>
    </p:spTree>
    <p:extLst>
      <p:ext uri="{BB962C8B-B14F-4D97-AF65-F5344CB8AC3E}">
        <p14:creationId xmlns:p14="http://schemas.microsoft.com/office/powerpoint/2010/main" val="23454319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e359b54-4d2b-4b34-9663-46c8524e86c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AB621E61593B54DA73CD63F0899C341" ma:contentTypeVersion="9" ma:contentTypeDescription="Create a new document." ma:contentTypeScope="" ma:versionID="9beeb5847bf4169847e876994793d1a1">
  <xsd:schema xmlns:xsd="http://www.w3.org/2001/XMLSchema" xmlns:xs="http://www.w3.org/2001/XMLSchema" xmlns:p="http://schemas.microsoft.com/office/2006/metadata/properties" xmlns:ns3="ce359b54-4d2b-4b34-9663-46c8524e86ce" targetNamespace="http://schemas.microsoft.com/office/2006/metadata/properties" ma:root="true" ma:fieldsID="06cac3f42975e26263c24cc98fb1f505" ns3:_="">
    <xsd:import namespace="ce359b54-4d2b-4b34-9663-46c8524e86c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359b54-4d2b-4b34-9663-46c8524e86c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C0A02B-CA59-40A5-830E-3EF4A3207237}">
  <ds:schemaRefs>
    <ds:schemaRef ds:uri="http://www.w3.org/XML/1998/namespace"/>
    <ds:schemaRef ds:uri="http://purl.org/dc/dcmitype/"/>
    <ds:schemaRef ds:uri="http://schemas.microsoft.com/office/2006/documentManagement/types"/>
    <ds:schemaRef ds:uri="http://schemas.openxmlformats.org/package/2006/metadata/core-properties"/>
    <ds:schemaRef ds:uri="ce359b54-4d2b-4b34-9663-46c8524e86ce"/>
    <ds:schemaRef ds:uri="http://schemas.microsoft.com/office/infopath/2007/PartnerControls"/>
    <ds:schemaRef ds:uri="http://purl.org/dc/elements/1.1/"/>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5AE694C9-6922-4013-B43F-0FBB595EE041}">
  <ds:schemaRefs>
    <ds:schemaRef ds:uri="http://schemas.microsoft.com/sharepoint/v3/contenttype/forms"/>
  </ds:schemaRefs>
</ds:datastoreItem>
</file>

<file path=customXml/itemProps3.xml><?xml version="1.0" encoding="utf-8"?>
<ds:datastoreItem xmlns:ds="http://schemas.openxmlformats.org/officeDocument/2006/customXml" ds:itemID="{E02A7053-7030-4A36-B286-1680880EEC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359b54-4d2b-4b34-9663-46c8524e86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3352</TotalTime>
  <Words>767</Words>
  <Application>Microsoft Office PowerPoint</Application>
  <PresentationFormat>Custom</PresentationFormat>
  <Paragraphs>22</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Arial</vt:lpstr>
      <vt:lpstr>Calibri</vt:lpstr>
      <vt:lpstr>Calibri Light</vt:lpstr>
      <vt:lpstr>Gill Sans</vt:lpstr>
      <vt:lpstr>Open Sans</vt:lpstr>
      <vt:lpstr>Poppins</vt:lpstr>
      <vt:lpstr>Office Theme</vt:lpstr>
      <vt:lpstr>PowerPoint Presentation</vt:lpstr>
    </vt:vector>
  </TitlesOfParts>
  <Manager/>
  <Company>Colorado State University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SURE Poster Template</dc:title>
  <dc:subject/>
  <dc:creator>Dozier, Cody</dc:creator>
  <cp:keywords/>
  <dc:description/>
  <cp:lastModifiedBy>Friesen,Jack</cp:lastModifiedBy>
  <cp:revision>100</cp:revision>
  <dcterms:created xsi:type="dcterms:W3CDTF">2018-05-30T16:02:02Z</dcterms:created>
  <dcterms:modified xsi:type="dcterms:W3CDTF">2026-04-23T21:58:08Z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0x0101009AB621E61593B54DA73CD63F0899C341</vt:lpwstr>
  </property>
  <property fmtid="{D5CDD505-2E9C-101B-9397-08002B2CF9AE}" pid="3" name="MediaServiceImageTags">
    <vt:lpwstr/>
  </property>
</Properties>
</file>